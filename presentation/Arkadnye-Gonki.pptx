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0"/>
          <p:cNvSpPr txBox="1"/>
          <p:nvPr/>
        </p:nvSpPr>
        <p:spPr>
          <a:xfrm>
            <a:off x="6280189" y="2827733"/>
            <a:ext cx="4712297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Аркадные Гонки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6280189" y="3627239"/>
            <a:ext cx="7556422" cy="681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Двухпользовательский гоночный симулятор на Python</a:t>
            </a:r>
          </a:p>
        </p:txBody>
      </p:sp>
      <p:sp>
        <p:nvSpPr>
          <p:cNvPr id="113" name="Text 2"/>
          <p:cNvSpPr txBox="1"/>
          <p:nvPr/>
        </p:nvSpPr>
        <p:spPr>
          <a:xfrm>
            <a:off x="6280189" y="4676061"/>
            <a:ext cx="7556422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Динамичная аркадная гонка для двух игроков с физикой, визуальными эффектами и системой рекордов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 txBox="1"/>
          <p:nvPr/>
        </p:nvSpPr>
        <p:spPr>
          <a:xfrm>
            <a:off x="793790" y="718541"/>
            <a:ext cx="4173414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Обзор проекта</a:t>
            </a:r>
          </a:p>
        </p:txBody>
      </p:sp>
      <p:sp>
        <p:nvSpPr>
          <p:cNvPr id="116" name="Text 1"/>
          <p:cNvSpPr txBox="1"/>
          <p:nvPr/>
        </p:nvSpPr>
        <p:spPr>
          <a:xfrm>
            <a:off x="793790" y="1994297"/>
            <a:ext cx="845940" cy="411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Цель</a:t>
            </a:r>
          </a:p>
        </p:txBody>
      </p:sp>
      <p:sp>
        <p:nvSpPr>
          <p:cNvPr id="117" name="Text 2"/>
          <p:cNvSpPr txBox="1"/>
          <p:nvPr/>
        </p:nvSpPr>
        <p:spPr>
          <a:xfrm>
            <a:off x="793789" y="2646402"/>
            <a:ext cx="6244711" cy="1400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Создание многопользовательской гоночной игры с реалистичной физикой, трёхмерными треками и системой подсчёта времени на Python с использованием библиотеки Arcade</a:t>
            </a:r>
          </a:p>
        </p:txBody>
      </p:sp>
      <p:sp>
        <p:nvSpPr>
          <p:cNvPr id="118" name="Text 3"/>
          <p:cNvSpPr txBox="1"/>
          <p:nvPr/>
        </p:nvSpPr>
        <p:spPr>
          <a:xfrm>
            <a:off x="7599520" y="1994297"/>
            <a:ext cx="1953110" cy="411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Технологии</a:t>
            </a:r>
          </a:p>
        </p:txBody>
      </p:sp>
      <p:sp>
        <p:nvSpPr>
          <p:cNvPr id="119" name="Text 4"/>
          <p:cNvSpPr txBox="1"/>
          <p:nvPr/>
        </p:nvSpPr>
        <p:spPr>
          <a:xfrm>
            <a:off x="7599520" y="2646402"/>
            <a:ext cx="6244710" cy="1400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Python 3.12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Arcade 3.3.3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Tiled для карт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JSON для сохранений</a:t>
            </a:r>
          </a:p>
        </p:txBody>
      </p:sp>
      <p:sp>
        <p:nvSpPr>
          <p:cNvPr id="120" name="Shape 5"/>
          <p:cNvSpPr/>
          <p:nvPr/>
        </p:nvSpPr>
        <p:spPr>
          <a:xfrm>
            <a:off x="793790" y="4432546"/>
            <a:ext cx="6407945" cy="1306950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6"/>
          <p:cNvSpPr txBox="1"/>
          <p:nvPr/>
        </p:nvSpPr>
        <p:spPr>
          <a:xfrm>
            <a:off x="1020603" y="4659360"/>
            <a:ext cx="1394422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Три трека</a:t>
            </a:r>
          </a:p>
        </p:txBody>
      </p:sp>
      <p:sp>
        <p:nvSpPr>
          <p:cNvPr id="122" name="Text 7"/>
          <p:cNvSpPr txBox="1"/>
          <p:nvPr/>
        </p:nvSpPr>
        <p:spPr>
          <a:xfrm>
            <a:off x="1020603" y="5149779"/>
            <a:ext cx="2590219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От простого до сложного</a:t>
            </a:r>
          </a:p>
        </p:txBody>
      </p:sp>
      <p:sp>
        <p:nvSpPr>
          <p:cNvPr id="123" name="Shape 8"/>
          <p:cNvSpPr/>
          <p:nvPr/>
        </p:nvSpPr>
        <p:spPr>
          <a:xfrm>
            <a:off x="7428548" y="4432546"/>
            <a:ext cx="6408064" cy="1306950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9"/>
          <p:cNvSpPr txBox="1"/>
          <p:nvPr/>
        </p:nvSpPr>
        <p:spPr>
          <a:xfrm>
            <a:off x="7655362" y="4659360"/>
            <a:ext cx="1052811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Физика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7655362" y="5149779"/>
            <a:ext cx="273211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Движение и столкновения</a:t>
            </a:r>
          </a:p>
        </p:txBody>
      </p:sp>
      <p:sp>
        <p:nvSpPr>
          <p:cNvPr id="126" name="Shape 11"/>
          <p:cNvSpPr/>
          <p:nvPr/>
        </p:nvSpPr>
        <p:spPr>
          <a:xfrm>
            <a:off x="793790" y="5966309"/>
            <a:ext cx="6407945" cy="1306950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2"/>
          <p:cNvSpPr txBox="1"/>
          <p:nvPr/>
        </p:nvSpPr>
        <p:spPr>
          <a:xfrm>
            <a:off x="1020603" y="6193123"/>
            <a:ext cx="126986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Рекорды</a:t>
            </a:r>
          </a:p>
        </p:txBody>
      </p:sp>
      <p:sp>
        <p:nvSpPr>
          <p:cNvPr id="128" name="Text 13"/>
          <p:cNvSpPr txBox="1"/>
          <p:nvPr/>
        </p:nvSpPr>
        <p:spPr>
          <a:xfrm>
            <a:off x="1020603" y="6683543"/>
            <a:ext cx="1822762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Система времени</a:t>
            </a:r>
          </a:p>
        </p:txBody>
      </p:sp>
      <p:sp>
        <p:nvSpPr>
          <p:cNvPr id="129" name="Shape 14"/>
          <p:cNvSpPr/>
          <p:nvPr/>
        </p:nvSpPr>
        <p:spPr>
          <a:xfrm>
            <a:off x="7428548" y="5966309"/>
            <a:ext cx="6408064" cy="1306950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5"/>
          <p:cNvSpPr txBox="1"/>
          <p:nvPr/>
        </p:nvSpPr>
        <p:spPr>
          <a:xfrm>
            <a:off x="7655362" y="6193123"/>
            <a:ext cx="1369728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Эффекты</a:t>
            </a:r>
          </a:p>
        </p:txBody>
      </p:sp>
      <p:sp>
        <p:nvSpPr>
          <p:cNvPr id="131" name="Text 16"/>
          <p:cNvSpPr txBox="1"/>
          <p:nvPr/>
        </p:nvSpPr>
        <p:spPr>
          <a:xfrm>
            <a:off x="7655362" y="6683543"/>
            <a:ext cx="1718817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Частицы и звуки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793789" y="885587"/>
            <a:ext cx="6005613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Архитектура проекта</a:t>
            </a:r>
          </a:p>
        </p:txBody>
      </p:sp>
      <p:pic>
        <p:nvPicPr>
          <p:cNvPr id="1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3790" y="1934528"/>
            <a:ext cx="6521410" cy="907257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1"/>
          <p:cNvSpPr txBox="1"/>
          <p:nvPr/>
        </p:nvSpPr>
        <p:spPr>
          <a:xfrm>
            <a:off x="1020603" y="3068597"/>
            <a:ext cx="1068501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main.py</a:t>
            </a:r>
          </a:p>
        </p:txBody>
      </p:sp>
      <p:sp>
        <p:nvSpPr>
          <p:cNvPr id="136" name="Text 2"/>
          <p:cNvSpPr txBox="1"/>
          <p:nvPr/>
        </p:nvSpPr>
        <p:spPr>
          <a:xfrm>
            <a:off x="1020604" y="3559016"/>
            <a:ext cx="353288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Точка входа, управление музыкой</a:t>
            </a:r>
          </a:p>
        </p:txBody>
      </p:sp>
      <p:pic>
        <p:nvPicPr>
          <p:cNvPr id="13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5200" y="1934528"/>
            <a:ext cx="6521410" cy="907257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 3"/>
          <p:cNvSpPr txBox="1"/>
          <p:nvPr/>
        </p:nvSpPr>
        <p:spPr>
          <a:xfrm>
            <a:off x="7542014" y="3068597"/>
            <a:ext cx="851446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views/</a:t>
            </a:r>
          </a:p>
        </p:txBody>
      </p:sp>
      <p:sp>
        <p:nvSpPr>
          <p:cNvPr id="139" name="Text 4"/>
          <p:cNvSpPr txBox="1"/>
          <p:nvPr/>
        </p:nvSpPr>
        <p:spPr>
          <a:xfrm>
            <a:off x="7542014" y="3559016"/>
            <a:ext cx="3949608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Система экранов (меню, игра, финиш)</a:t>
            </a:r>
          </a:p>
        </p:txBody>
      </p:sp>
      <p:pic>
        <p:nvPicPr>
          <p:cNvPr id="14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3790" y="4148732"/>
            <a:ext cx="6521410" cy="907257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 5"/>
          <p:cNvSpPr txBox="1"/>
          <p:nvPr/>
        </p:nvSpPr>
        <p:spPr>
          <a:xfrm>
            <a:off x="1020603" y="5282803"/>
            <a:ext cx="1922799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entities/Car.py</a:t>
            </a:r>
          </a:p>
        </p:txBody>
      </p:sp>
      <p:sp>
        <p:nvSpPr>
          <p:cNvPr id="142" name="Text 6"/>
          <p:cNvSpPr txBox="1"/>
          <p:nvPr/>
        </p:nvSpPr>
        <p:spPr>
          <a:xfrm>
            <a:off x="1020604" y="5773222"/>
            <a:ext cx="2874957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Физика и поведение машин</a:t>
            </a:r>
          </a:p>
        </p:txBody>
      </p:sp>
      <p:pic>
        <p:nvPicPr>
          <p:cNvPr id="14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15200" y="4148732"/>
            <a:ext cx="6521410" cy="907257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Text 7"/>
          <p:cNvSpPr txBox="1"/>
          <p:nvPr/>
        </p:nvSpPr>
        <p:spPr>
          <a:xfrm>
            <a:off x="7542014" y="5282803"/>
            <a:ext cx="1736031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constants.py</a:t>
            </a:r>
          </a:p>
        </p:txBody>
      </p:sp>
      <p:sp>
        <p:nvSpPr>
          <p:cNvPr id="145" name="Text 8"/>
          <p:cNvSpPr txBox="1"/>
          <p:nvPr/>
        </p:nvSpPr>
        <p:spPr>
          <a:xfrm>
            <a:off x="7542014" y="5773222"/>
            <a:ext cx="2056160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Конфигурация игры</a:t>
            </a:r>
          </a:p>
        </p:txBody>
      </p:sp>
      <p:sp>
        <p:nvSpPr>
          <p:cNvPr id="146" name="Text 9"/>
          <p:cNvSpPr txBox="1"/>
          <p:nvPr/>
        </p:nvSpPr>
        <p:spPr>
          <a:xfrm>
            <a:off x="793790" y="6618089"/>
            <a:ext cx="13042821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Паттерн </a:t>
            </a:r>
            <a:r>
              <a:rPr b="1"/>
              <a:t>Model-View</a:t>
            </a:r>
            <a:r>
              <a:t> с отдельными классами View для каждого экрана. Ресурсы организованы в папках assets/ (звуки, изображения, тайлы) и tmx_files/ (карты уровней). Лёгкая расширяемость и модульность.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793790" y="1196934"/>
            <a:ext cx="4817344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Игровой процесс</a:t>
            </a:r>
          </a:p>
        </p:txBody>
      </p:sp>
      <p:sp>
        <p:nvSpPr>
          <p:cNvPr id="149" name="Text 1"/>
          <p:cNvSpPr txBox="1"/>
          <p:nvPr/>
        </p:nvSpPr>
        <p:spPr>
          <a:xfrm>
            <a:off x="793790" y="2472689"/>
            <a:ext cx="2002929" cy="411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Управление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793790" y="2988706"/>
            <a:ext cx="1645482" cy="411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Механики</a:t>
            </a:r>
          </a:p>
        </p:txBody>
      </p:sp>
      <p:sp>
        <p:nvSpPr>
          <p:cNvPr id="151" name="Text 3"/>
          <p:cNvSpPr txBox="1"/>
          <p:nvPr/>
        </p:nvSpPr>
        <p:spPr>
          <a:xfrm>
            <a:off x="793789" y="3640811"/>
            <a:ext cx="4205170" cy="1400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Ускорение и торможение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Повороты с учётом скорости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Скольжение по масляным пятнам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Столкновения со стенами</a:t>
            </a:r>
          </a:p>
        </p:txBody>
      </p:sp>
      <p:sp>
        <p:nvSpPr>
          <p:cNvPr id="152" name="Text 4"/>
          <p:cNvSpPr txBox="1"/>
          <p:nvPr/>
        </p:nvSpPr>
        <p:spPr>
          <a:xfrm>
            <a:off x="5559981" y="3283387"/>
            <a:ext cx="8284132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Цель:</a:t>
            </a:r>
            <a:r>
              <a:rPr b="0"/>
              <a:t> Пройти все чекпоинты в правильном порядке и пересечь финишную линию. Побеждает игрок с наименьшим суммарным временем на всех треках.</a:t>
            </a:r>
          </a:p>
        </p:txBody>
      </p:sp>
      <p:sp>
        <p:nvSpPr>
          <p:cNvPr id="153" name="Shape 5"/>
          <p:cNvSpPr/>
          <p:nvPr/>
        </p:nvSpPr>
        <p:spPr>
          <a:xfrm>
            <a:off x="793790" y="5426957"/>
            <a:ext cx="6407945" cy="1367910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6"/>
          <p:cNvSpPr txBox="1"/>
          <p:nvPr/>
        </p:nvSpPr>
        <p:spPr>
          <a:xfrm>
            <a:off x="1051083" y="5684251"/>
            <a:ext cx="1083780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Игрок 1</a:t>
            </a:r>
          </a:p>
        </p:txBody>
      </p:sp>
      <p:sp>
        <p:nvSpPr>
          <p:cNvPr id="155" name="Text 7"/>
          <p:cNvSpPr txBox="1"/>
          <p:nvPr/>
        </p:nvSpPr>
        <p:spPr>
          <a:xfrm>
            <a:off x="1051083" y="6174670"/>
            <a:ext cx="2993766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Стрелки клавиатуры: ↑↓←→</a:t>
            </a:r>
          </a:p>
        </p:txBody>
      </p:sp>
      <p:sp>
        <p:nvSpPr>
          <p:cNvPr id="156" name="Shape 8"/>
          <p:cNvSpPr/>
          <p:nvPr/>
        </p:nvSpPr>
        <p:spPr>
          <a:xfrm>
            <a:off x="7428548" y="5426957"/>
            <a:ext cx="6408064" cy="1367910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9"/>
          <p:cNvSpPr txBox="1"/>
          <p:nvPr/>
        </p:nvSpPr>
        <p:spPr>
          <a:xfrm>
            <a:off x="7685841" y="5684251"/>
            <a:ext cx="1083780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Игрок 2</a:t>
            </a:r>
          </a:p>
        </p:txBody>
      </p:sp>
      <p:sp>
        <p:nvSpPr>
          <p:cNvPr id="158" name="Text 10"/>
          <p:cNvSpPr txBox="1"/>
          <p:nvPr/>
        </p:nvSpPr>
        <p:spPr>
          <a:xfrm>
            <a:off x="7685841" y="6174670"/>
            <a:ext cx="652495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WASD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 txBox="1"/>
          <p:nvPr/>
        </p:nvSpPr>
        <p:spPr>
          <a:xfrm>
            <a:off x="793790" y="1252299"/>
            <a:ext cx="5762229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Визуальная система</a:t>
            </a:r>
          </a:p>
        </p:txBody>
      </p:sp>
      <p:sp>
        <p:nvSpPr>
          <p:cNvPr id="161" name="Text 1"/>
          <p:cNvSpPr txBox="1"/>
          <p:nvPr/>
        </p:nvSpPr>
        <p:spPr>
          <a:xfrm>
            <a:off x="793790" y="2301239"/>
            <a:ext cx="25284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Playfair Display Light"/>
                <a:ea typeface="Playfair Display Light"/>
                <a:cs typeface="Playfair Display Light"/>
                <a:sym typeface="Playfair Display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2" name="Shape 2"/>
          <p:cNvSpPr/>
          <p:nvPr/>
        </p:nvSpPr>
        <p:spPr>
          <a:xfrm>
            <a:off x="793789" y="2656283"/>
            <a:ext cx="6407946" cy="30481"/>
          </a:xfrm>
          <a:prstGeom prst="rect">
            <a:avLst/>
          </a:prstGeom>
          <a:solidFill>
            <a:srgbClr val="10101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3"/>
          <p:cNvSpPr txBox="1"/>
          <p:nvPr/>
        </p:nvSpPr>
        <p:spPr>
          <a:xfrm>
            <a:off x="793789" y="2830591"/>
            <a:ext cx="2348038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Тайловые карты</a:t>
            </a:r>
          </a:p>
        </p:txBody>
      </p:sp>
      <p:sp>
        <p:nvSpPr>
          <p:cNvPr id="164" name="Text 4"/>
          <p:cNvSpPr txBox="1"/>
          <p:nvPr/>
        </p:nvSpPr>
        <p:spPr>
          <a:xfrm>
            <a:off x="793789" y="3321010"/>
            <a:ext cx="5245008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3 трека созданных в Tiled с различной сложностью</a:t>
            </a:r>
          </a:p>
        </p:txBody>
      </p:sp>
      <p:sp>
        <p:nvSpPr>
          <p:cNvPr id="165" name="Text 5"/>
          <p:cNvSpPr txBox="1"/>
          <p:nvPr/>
        </p:nvSpPr>
        <p:spPr>
          <a:xfrm>
            <a:off x="7428548" y="2301239"/>
            <a:ext cx="25284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Playfair Display Light"/>
                <a:ea typeface="Playfair Display Light"/>
                <a:cs typeface="Playfair Display Light"/>
                <a:sym typeface="Playfair Display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6" name="Shape 6"/>
          <p:cNvSpPr/>
          <p:nvPr/>
        </p:nvSpPr>
        <p:spPr>
          <a:xfrm>
            <a:off x="7428548" y="2656283"/>
            <a:ext cx="6408064" cy="30481"/>
          </a:xfrm>
          <a:prstGeom prst="rect">
            <a:avLst/>
          </a:prstGeom>
          <a:solidFill>
            <a:srgbClr val="10101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7"/>
          <p:cNvSpPr txBox="1"/>
          <p:nvPr/>
        </p:nvSpPr>
        <p:spPr>
          <a:xfrm>
            <a:off x="7428548" y="2830591"/>
            <a:ext cx="1452402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Слои карт</a:t>
            </a:r>
          </a:p>
        </p:txBody>
      </p:sp>
      <p:sp>
        <p:nvSpPr>
          <p:cNvPr id="168" name="Text 8"/>
          <p:cNvSpPr txBox="1"/>
          <p:nvPr/>
        </p:nvSpPr>
        <p:spPr>
          <a:xfrm>
            <a:off x="7428548" y="3321010"/>
            <a:ext cx="5420110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Фон, дорожное полотно, стены, объекты, чекпоинты</a:t>
            </a:r>
          </a:p>
        </p:txBody>
      </p:sp>
      <p:sp>
        <p:nvSpPr>
          <p:cNvPr id="169" name="Text 9"/>
          <p:cNvSpPr txBox="1"/>
          <p:nvPr/>
        </p:nvSpPr>
        <p:spPr>
          <a:xfrm>
            <a:off x="793790" y="4080747"/>
            <a:ext cx="25284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Playfair Display Light"/>
                <a:ea typeface="Playfair Display Light"/>
                <a:cs typeface="Playfair Display Light"/>
                <a:sym typeface="Playfair Display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0" name="Shape 10"/>
          <p:cNvSpPr/>
          <p:nvPr/>
        </p:nvSpPr>
        <p:spPr>
          <a:xfrm>
            <a:off x="793789" y="4435792"/>
            <a:ext cx="6407946" cy="30481"/>
          </a:xfrm>
          <a:prstGeom prst="rect">
            <a:avLst/>
          </a:prstGeom>
          <a:solidFill>
            <a:srgbClr val="10101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1"/>
          <p:cNvSpPr txBox="1"/>
          <p:nvPr/>
        </p:nvSpPr>
        <p:spPr>
          <a:xfrm>
            <a:off x="793790" y="4610100"/>
            <a:ext cx="313753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Динамическая камера</a:t>
            </a:r>
          </a:p>
        </p:txBody>
      </p:sp>
      <p:sp>
        <p:nvSpPr>
          <p:cNvPr id="172" name="Text 12"/>
          <p:cNvSpPr txBox="1"/>
          <p:nvPr/>
        </p:nvSpPr>
        <p:spPr>
          <a:xfrm>
            <a:off x="793789" y="5100518"/>
            <a:ext cx="6407946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Автоматическое масштабирование и слежение за двумя игроками</a:t>
            </a:r>
          </a:p>
        </p:txBody>
      </p:sp>
      <p:sp>
        <p:nvSpPr>
          <p:cNvPr id="173" name="Text 13"/>
          <p:cNvSpPr txBox="1"/>
          <p:nvPr/>
        </p:nvSpPr>
        <p:spPr>
          <a:xfrm>
            <a:off x="7428548" y="4080747"/>
            <a:ext cx="25284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Playfair Display Light"/>
                <a:ea typeface="Playfair Display Light"/>
                <a:cs typeface="Playfair Display Light"/>
                <a:sym typeface="Playfair Display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4" name="Shape 14"/>
          <p:cNvSpPr/>
          <p:nvPr/>
        </p:nvSpPr>
        <p:spPr>
          <a:xfrm>
            <a:off x="7428548" y="4435792"/>
            <a:ext cx="6408064" cy="30481"/>
          </a:xfrm>
          <a:prstGeom prst="rect">
            <a:avLst/>
          </a:prstGeom>
          <a:solidFill>
            <a:srgbClr val="10101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5"/>
          <p:cNvSpPr txBox="1"/>
          <p:nvPr/>
        </p:nvSpPr>
        <p:spPr>
          <a:xfrm>
            <a:off x="7428548" y="4610100"/>
            <a:ext cx="239455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Эффекты частиц</a:t>
            </a:r>
          </a:p>
        </p:txBody>
      </p:sp>
      <p:sp>
        <p:nvSpPr>
          <p:cNvPr id="176" name="Text 16"/>
          <p:cNvSpPr txBox="1"/>
          <p:nvPr/>
        </p:nvSpPr>
        <p:spPr>
          <a:xfrm>
            <a:off x="7428548" y="5100518"/>
            <a:ext cx="2836479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Выхлоп, следы скольжения</a:t>
            </a:r>
          </a:p>
        </p:txBody>
      </p:sp>
      <p:sp>
        <p:nvSpPr>
          <p:cNvPr id="177" name="Text 17"/>
          <p:cNvSpPr txBox="1"/>
          <p:nvPr/>
        </p:nvSpPr>
        <p:spPr>
          <a:xfrm>
            <a:off x="793790" y="6251495"/>
            <a:ext cx="13042821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Каждый трек представляет собой уникальную конфигурацию слоёв, что позволяет легко добавлять новые уровни без изменения кода.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 txBox="1"/>
          <p:nvPr/>
        </p:nvSpPr>
        <p:spPr>
          <a:xfrm>
            <a:off x="733424" y="719376"/>
            <a:ext cx="5639211" cy="63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100"/>
              </a:lnSpc>
              <a:defRPr b="1" sz="41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Физика и управление</a:t>
            </a:r>
          </a:p>
        </p:txBody>
      </p:sp>
      <p:sp>
        <p:nvSpPr>
          <p:cNvPr id="180" name="Text 1"/>
          <p:cNvSpPr txBox="1"/>
          <p:nvPr/>
        </p:nvSpPr>
        <p:spPr>
          <a:xfrm>
            <a:off x="733425" y="1858208"/>
            <a:ext cx="3874642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Реалистичное поведение</a:t>
            </a:r>
          </a:p>
        </p:txBody>
      </p:sp>
      <p:sp>
        <p:nvSpPr>
          <p:cNvPr id="181" name="Shape 2"/>
          <p:cNvSpPr/>
          <p:nvPr/>
        </p:nvSpPr>
        <p:spPr>
          <a:xfrm>
            <a:off x="733425" y="2468879"/>
            <a:ext cx="471488" cy="471489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3"/>
          <p:cNvSpPr txBox="1"/>
          <p:nvPr/>
        </p:nvSpPr>
        <p:spPr>
          <a:xfrm>
            <a:off x="1398508" y="2540912"/>
            <a:ext cx="2877766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Ускорение с инерцией</a:t>
            </a:r>
          </a:p>
        </p:txBody>
      </p:sp>
      <p:sp>
        <p:nvSpPr>
          <p:cNvPr id="183" name="Text 4"/>
          <p:cNvSpPr txBox="1"/>
          <p:nvPr/>
        </p:nvSpPr>
        <p:spPr>
          <a:xfrm>
            <a:off x="1398508" y="3061929"/>
            <a:ext cx="3628033" cy="30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Плавное набирание и сброс скорости</a:t>
            </a:r>
          </a:p>
        </p:txBody>
      </p:sp>
      <p:sp>
        <p:nvSpPr>
          <p:cNvPr id="184" name="Shape 5"/>
          <p:cNvSpPr/>
          <p:nvPr/>
        </p:nvSpPr>
        <p:spPr>
          <a:xfrm>
            <a:off x="733425" y="3568739"/>
            <a:ext cx="471488" cy="471489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6"/>
          <p:cNvSpPr txBox="1"/>
          <p:nvPr/>
        </p:nvSpPr>
        <p:spPr>
          <a:xfrm>
            <a:off x="1398508" y="3640771"/>
            <a:ext cx="2207295" cy="31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Разные скорости</a:t>
            </a:r>
          </a:p>
        </p:txBody>
      </p:sp>
      <p:sp>
        <p:nvSpPr>
          <p:cNvPr id="186" name="Text 7"/>
          <p:cNvSpPr txBox="1"/>
          <p:nvPr/>
        </p:nvSpPr>
        <p:spPr>
          <a:xfrm>
            <a:off x="1398508" y="4161788"/>
            <a:ext cx="3645794" cy="30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Вперёд и назад с разным ускорением</a:t>
            </a:r>
          </a:p>
        </p:txBody>
      </p:sp>
      <p:sp>
        <p:nvSpPr>
          <p:cNvPr id="187" name="Shape 8"/>
          <p:cNvSpPr/>
          <p:nvPr/>
        </p:nvSpPr>
        <p:spPr>
          <a:xfrm>
            <a:off x="733425" y="4871401"/>
            <a:ext cx="471488" cy="471489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9"/>
          <p:cNvSpPr txBox="1"/>
          <p:nvPr/>
        </p:nvSpPr>
        <p:spPr>
          <a:xfrm>
            <a:off x="1398508" y="4943435"/>
            <a:ext cx="2001168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Управляемость</a:t>
            </a:r>
          </a:p>
        </p:txBody>
      </p:sp>
      <p:sp>
        <p:nvSpPr>
          <p:cNvPr id="189" name="Text 10"/>
          <p:cNvSpPr txBox="1"/>
          <p:nvPr/>
        </p:nvSpPr>
        <p:spPr>
          <a:xfrm>
            <a:off x="1398508" y="5464452"/>
            <a:ext cx="2890540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Зависит от текущей скорости</a:t>
            </a:r>
          </a:p>
        </p:txBody>
      </p:sp>
      <p:sp>
        <p:nvSpPr>
          <p:cNvPr id="190" name="Shape 11"/>
          <p:cNvSpPr/>
          <p:nvPr/>
        </p:nvSpPr>
        <p:spPr>
          <a:xfrm>
            <a:off x="733425" y="6174065"/>
            <a:ext cx="471488" cy="471488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2"/>
          <p:cNvSpPr txBox="1"/>
          <p:nvPr/>
        </p:nvSpPr>
        <p:spPr>
          <a:xfrm>
            <a:off x="1398508" y="6246097"/>
            <a:ext cx="776933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Занос</a:t>
            </a:r>
          </a:p>
        </p:txBody>
      </p:sp>
      <p:sp>
        <p:nvSpPr>
          <p:cNvPr id="192" name="Text 13"/>
          <p:cNvSpPr txBox="1"/>
          <p:nvPr/>
        </p:nvSpPr>
        <p:spPr>
          <a:xfrm>
            <a:off x="1398508" y="6767114"/>
            <a:ext cx="3673079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При скольжении по масляным пятнам</a:t>
            </a:r>
          </a:p>
        </p:txBody>
      </p:sp>
      <p:sp>
        <p:nvSpPr>
          <p:cNvPr id="193" name="Text 14"/>
          <p:cNvSpPr txBox="1"/>
          <p:nvPr/>
        </p:nvSpPr>
        <p:spPr>
          <a:xfrm>
            <a:off x="7578446" y="1858208"/>
            <a:ext cx="3560615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Система столкновений</a:t>
            </a:r>
          </a:p>
        </p:txBody>
      </p:sp>
      <p:sp>
        <p:nvSpPr>
          <p:cNvPr id="194" name="Text 15"/>
          <p:cNvSpPr txBox="1"/>
          <p:nvPr/>
        </p:nvSpPr>
        <p:spPr>
          <a:xfrm>
            <a:off x="7578446" y="2444710"/>
            <a:ext cx="6326149" cy="125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Разные наборы стен для каждого игрока</a:t>
            </a:r>
          </a:p>
          <a:p>
            <a: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Блокирующие стены, открывающиеся после чекпоинтов</a:t>
            </a:r>
          </a:p>
          <a:p>
            <a: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Масляные пятна ухудшают управление на 3 секунды</a:t>
            </a:r>
          </a:p>
          <a:p>
            <a:pPr marL="342900" indent="-342900">
              <a:lnSpc>
                <a:spcPts val="2500"/>
              </a:lnSpc>
              <a:buSzPct val="100000"/>
              <a:buChar char="•"/>
              <a:defRPr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Немедленная реакция на столкновения</a:t>
            </a:r>
          </a:p>
        </p:txBody>
      </p:sp>
      <p:sp>
        <p:nvSpPr>
          <p:cNvPr id="195" name="Text 16"/>
          <p:cNvSpPr txBox="1"/>
          <p:nvPr/>
        </p:nvSpPr>
        <p:spPr>
          <a:xfrm>
            <a:off x="7578446" y="3909019"/>
            <a:ext cx="6326149" cy="618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6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Spatial hash</a:t>
            </a:r>
            <a:r>
              <a:rPr b="0"/>
              <a:t> для быстрого обнаружения столкновений оптимизирует производительность.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 txBox="1"/>
          <p:nvPr/>
        </p:nvSpPr>
        <p:spPr>
          <a:xfrm>
            <a:off x="793789" y="650199"/>
            <a:ext cx="8357594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Система уровней и прогресса</a:t>
            </a:r>
          </a:p>
        </p:txBody>
      </p:sp>
      <p:sp>
        <p:nvSpPr>
          <p:cNvPr id="198" name="Shape 1"/>
          <p:cNvSpPr/>
          <p:nvPr/>
        </p:nvSpPr>
        <p:spPr>
          <a:xfrm>
            <a:off x="1020603" y="2039303"/>
            <a:ext cx="226815" cy="1020605"/>
          </a:xfrm>
          <a:prstGeom prst="roundRect">
            <a:avLst>
              <a:gd name="adj" fmla="val 15001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2"/>
          <p:cNvSpPr/>
          <p:nvPr/>
        </p:nvSpPr>
        <p:spPr>
          <a:xfrm>
            <a:off x="793790" y="1890473"/>
            <a:ext cx="680443" cy="680443"/>
          </a:xfrm>
          <a:prstGeom prst="roundRect">
            <a:avLst>
              <a:gd name="adj" fmla="val 50000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3"/>
          <p:cNvSpPr txBox="1"/>
          <p:nvPr/>
        </p:nvSpPr>
        <p:spPr>
          <a:xfrm>
            <a:off x="1701045" y="1925954"/>
            <a:ext cx="97600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Track 1</a:t>
            </a:r>
          </a:p>
        </p:txBody>
      </p:sp>
      <p:sp>
        <p:nvSpPr>
          <p:cNvPr id="201" name="Text 4"/>
          <p:cNvSpPr txBox="1"/>
          <p:nvPr/>
        </p:nvSpPr>
        <p:spPr>
          <a:xfrm>
            <a:off x="1701046" y="2416373"/>
            <a:ext cx="880493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Базовый трек для обучения с простыми поворотами и минимальными препятствиями</a:t>
            </a:r>
          </a:p>
        </p:txBody>
      </p:sp>
      <p:sp>
        <p:nvSpPr>
          <p:cNvPr id="202" name="Shape 5"/>
          <p:cNvSpPr/>
          <p:nvPr/>
        </p:nvSpPr>
        <p:spPr>
          <a:xfrm>
            <a:off x="1360765" y="3627001"/>
            <a:ext cx="226814" cy="1020605"/>
          </a:xfrm>
          <a:prstGeom prst="roundRect">
            <a:avLst>
              <a:gd name="adj" fmla="val 15001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6"/>
          <p:cNvSpPr/>
          <p:nvPr/>
        </p:nvSpPr>
        <p:spPr>
          <a:xfrm>
            <a:off x="1133951" y="3478172"/>
            <a:ext cx="680443" cy="680443"/>
          </a:xfrm>
          <a:prstGeom prst="roundRect">
            <a:avLst>
              <a:gd name="adj" fmla="val 50000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7"/>
          <p:cNvSpPr txBox="1"/>
          <p:nvPr/>
        </p:nvSpPr>
        <p:spPr>
          <a:xfrm>
            <a:off x="2041207" y="3513652"/>
            <a:ext cx="97600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Track 2</a:t>
            </a:r>
          </a:p>
        </p:txBody>
      </p:sp>
      <p:sp>
        <p:nvSpPr>
          <p:cNvPr id="205" name="Text 8"/>
          <p:cNvSpPr txBox="1"/>
          <p:nvPr/>
        </p:nvSpPr>
        <p:spPr>
          <a:xfrm>
            <a:off x="2041207" y="4004071"/>
            <a:ext cx="9569439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Средняя сложность с препятствиями, узкими проходами и несколькими масляными пятнами</a:t>
            </a:r>
          </a:p>
        </p:txBody>
      </p:sp>
      <p:sp>
        <p:nvSpPr>
          <p:cNvPr id="206" name="Shape 9"/>
          <p:cNvSpPr/>
          <p:nvPr/>
        </p:nvSpPr>
        <p:spPr>
          <a:xfrm>
            <a:off x="1701045" y="5214699"/>
            <a:ext cx="226815" cy="1020605"/>
          </a:xfrm>
          <a:prstGeom prst="roundRect">
            <a:avLst>
              <a:gd name="adj" fmla="val 15001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10"/>
          <p:cNvSpPr/>
          <p:nvPr/>
        </p:nvSpPr>
        <p:spPr>
          <a:xfrm>
            <a:off x="1474232" y="5065871"/>
            <a:ext cx="680443" cy="680443"/>
          </a:xfrm>
          <a:prstGeom prst="roundRect">
            <a:avLst>
              <a:gd name="adj" fmla="val 50000"/>
            </a:avLst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1"/>
          <p:cNvSpPr txBox="1"/>
          <p:nvPr/>
        </p:nvSpPr>
        <p:spPr>
          <a:xfrm>
            <a:off x="2381487" y="5101352"/>
            <a:ext cx="976004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Track 3</a:t>
            </a:r>
          </a:p>
        </p:txBody>
      </p:sp>
      <p:sp>
        <p:nvSpPr>
          <p:cNvPr id="209" name="Text 12"/>
          <p:cNvSpPr txBox="1"/>
          <p:nvPr/>
        </p:nvSpPr>
        <p:spPr>
          <a:xfrm>
            <a:off x="2381487" y="5591769"/>
            <a:ext cx="9831618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Сложный трек с множеством поворотов, пересекающимися путями и плотными препятствиями</a:t>
            </a:r>
          </a:p>
        </p:txBody>
      </p:sp>
      <p:sp>
        <p:nvSpPr>
          <p:cNvPr id="210" name="Text 13"/>
          <p:cNvSpPr txBox="1"/>
          <p:nvPr/>
        </p:nvSpPr>
        <p:spPr>
          <a:xfrm>
            <a:off x="793790" y="6490572"/>
            <a:ext cx="13042821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Автоматический переход между уровнями после финиша обоих игроков. JSON-файл сохраняет историю всех заездов с именами, временем и датой. Финальная статистика показывает суммарное и среднее время по всем трекам.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793790" y="948689"/>
            <a:ext cx="8520758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Пользовательский интерфейс</a:t>
            </a:r>
          </a:p>
        </p:txBody>
      </p:sp>
      <p:sp>
        <p:nvSpPr>
          <p:cNvPr id="213" name="Shape 1"/>
          <p:cNvSpPr/>
          <p:nvPr/>
        </p:nvSpPr>
        <p:spPr>
          <a:xfrm>
            <a:off x="793790" y="1997630"/>
            <a:ext cx="13042821" cy="1367911"/>
          </a:xfrm>
          <a:prstGeom prst="roundRect">
            <a:avLst>
              <a:gd name="adj" fmla="val 2487"/>
            </a:avLst>
          </a:prstGeom>
          <a:solidFill>
            <a:srgbClr val="F3F3F7"/>
          </a:solidFill>
          <a:ln w="30480">
            <a:solidFill>
              <a:srgbClr val="C6C6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2"/>
          <p:cNvSpPr/>
          <p:nvPr/>
        </p:nvSpPr>
        <p:spPr>
          <a:xfrm>
            <a:off x="824270" y="2028111"/>
            <a:ext cx="907256" cy="1306950"/>
          </a:xfrm>
          <a:prstGeom prst="rect">
            <a:avLst/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3"/>
          <p:cNvSpPr txBox="1"/>
          <p:nvPr/>
        </p:nvSpPr>
        <p:spPr>
          <a:xfrm>
            <a:off x="1958339" y="2254924"/>
            <a:ext cx="1720070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Экран меню</a:t>
            </a:r>
          </a:p>
        </p:txBody>
      </p:sp>
      <p:sp>
        <p:nvSpPr>
          <p:cNvPr id="216" name="Text 4"/>
          <p:cNvSpPr txBox="1"/>
          <p:nvPr/>
        </p:nvSpPr>
        <p:spPr>
          <a:xfrm>
            <a:off x="1958339" y="2745343"/>
            <a:ext cx="9912897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Ввод имён игроков (до 10 символов), кнопка начала игры, шрифт Kenney Future для стилизации</a:t>
            </a:r>
          </a:p>
        </p:txBody>
      </p:sp>
      <p:sp>
        <p:nvSpPr>
          <p:cNvPr id="217" name="Shape 5"/>
          <p:cNvSpPr/>
          <p:nvPr/>
        </p:nvSpPr>
        <p:spPr>
          <a:xfrm>
            <a:off x="793790" y="3592353"/>
            <a:ext cx="13042821" cy="1730813"/>
          </a:xfrm>
          <a:prstGeom prst="roundRect">
            <a:avLst>
              <a:gd name="adj" fmla="val 1966"/>
            </a:avLst>
          </a:prstGeom>
          <a:solidFill>
            <a:srgbClr val="F3F3F7"/>
          </a:solidFill>
          <a:ln w="30480">
            <a:solidFill>
              <a:srgbClr val="C6C6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6"/>
          <p:cNvSpPr/>
          <p:nvPr/>
        </p:nvSpPr>
        <p:spPr>
          <a:xfrm>
            <a:off x="824270" y="3622833"/>
            <a:ext cx="907256" cy="1669853"/>
          </a:xfrm>
          <a:prstGeom prst="rect">
            <a:avLst/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7"/>
          <p:cNvSpPr txBox="1"/>
          <p:nvPr/>
        </p:nvSpPr>
        <p:spPr>
          <a:xfrm>
            <a:off x="1958339" y="3849647"/>
            <a:ext cx="1871230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Игровой HUD</a:t>
            </a:r>
          </a:p>
        </p:txBody>
      </p:sp>
      <p:sp>
        <p:nvSpPr>
          <p:cNvPr id="220" name="Text 8"/>
          <p:cNvSpPr txBox="1"/>
          <p:nvPr/>
        </p:nvSpPr>
        <p:spPr>
          <a:xfrm>
            <a:off x="1958339" y="4340066"/>
            <a:ext cx="11620977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Таймеры для каждого игрока, индикаторы состояния, отображение имён, сообщения "ЖДЁТ СТАРТА" и "НЕВЕРНОЕ НАПРАВЛЕНИЕ"</a:t>
            </a:r>
          </a:p>
        </p:txBody>
      </p:sp>
      <p:sp>
        <p:nvSpPr>
          <p:cNvPr id="221" name="Shape 9"/>
          <p:cNvSpPr/>
          <p:nvPr/>
        </p:nvSpPr>
        <p:spPr>
          <a:xfrm>
            <a:off x="793790" y="5549979"/>
            <a:ext cx="13042821" cy="1730813"/>
          </a:xfrm>
          <a:prstGeom prst="roundRect">
            <a:avLst>
              <a:gd name="adj" fmla="val 1966"/>
            </a:avLst>
          </a:prstGeom>
          <a:solidFill>
            <a:srgbClr val="F3F3F7"/>
          </a:solidFill>
          <a:ln w="30480">
            <a:solidFill>
              <a:srgbClr val="C6C6D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10"/>
          <p:cNvSpPr/>
          <p:nvPr/>
        </p:nvSpPr>
        <p:spPr>
          <a:xfrm>
            <a:off x="824270" y="5580459"/>
            <a:ext cx="907256" cy="1669852"/>
          </a:xfrm>
          <a:prstGeom prst="rect">
            <a:avLst/>
          </a:prstGeom>
          <a:solidFill>
            <a:srgbClr val="E0E0E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11"/>
          <p:cNvSpPr txBox="1"/>
          <p:nvPr/>
        </p:nvSpPr>
        <p:spPr>
          <a:xfrm>
            <a:off x="1958339" y="5807273"/>
            <a:ext cx="2696742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Экран результатов</a:t>
            </a:r>
          </a:p>
        </p:txBody>
      </p:sp>
      <p:sp>
        <p:nvSpPr>
          <p:cNvPr id="224" name="Text 12"/>
          <p:cNvSpPr txBox="1"/>
          <p:nvPr/>
        </p:nvSpPr>
        <p:spPr>
          <a:xfrm>
            <a:off x="1958339" y="6297691"/>
            <a:ext cx="1162097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Промежуточные результаты между уровнями, финальная таблица с детальной статистикой, сравнение времени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 txBox="1"/>
          <p:nvPr/>
        </p:nvSpPr>
        <p:spPr>
          <a:xfrm>
            <a:off x="793789" y="1475302"/>
            <a:ext cx="11954050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b="1" sz="44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Аудиосистема и технические особенности</a:t>
            </a:r>
          </a:p>
        </p:txBody>
      </p:sp>
      <p:sp>
        <p:nvSpPr>
          <p:cNvPr id="227" name="Text 1"/>
          <p:cNvSpPr txBox="1"/>
          <p:nvPr/>
        </p:nvSpPr>
        <p:spPr>
          <a:xfrm>
            <a:off x="793790" y="2751058"/>
            <a:ext cx="2389399" cy="411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Аудиосистема</a:t>
            </a:r>
          </a:p>
        </p:txBody>
      </p:sp>
      <p:sp>
        <p:nvSpPr>
          <p:cNvPr id="228" name="Shape 2"/>
          <p:cNvSpPr/>
          <p:nvPr/>
        </p:nvSpPr>
        <p:spPr>
          <a:xfrm>
            <a:off x="793790" y="3551992"/>
            <a:ext cx="113349" cy="113349"/>
          </a:xfrm>
          <a:prstGeom prst="roundRect">
            <a:avLst>
              <a:gd name="adj" fmla="val 50000"/>
            </a:avLst>
          </a:prstGeom>
          <a:solidFill>
            <a:srgbClr val="10101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3"/>
          <p:cNvSpPr txBox="1"/>
          <p:nvPr/>
        </p:nvSpPr>
        <p:spPr>
          <a:xfrm>
            <a:off x="1133950" y="3431499"/>
            <a:ext cx="237600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Фоновая музыка</a:t>
            </a:r>
          </a:p>
        </p:txBody>
      </p:sp>
      <p:sp>
        <p:nvSpPr>
          <p:cNvPr id="230" name="Text 4"/>
          <p:cNvSpPr txBox="1"/>
          <p:nvPr/>
        </p:nvSpPr>
        <p:spPr>
          <a:xfrm>
            <a:off x="1133950" y="4012643"/>
            <a:ext cx="5904550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Плейлист из папки soundtracks с случайным порядком и непрерывным воспроизведением</a:t>
            </a:r>
          </a:p>
        </p:txBody>
      </p:sp>
      <p:sp>
        <p:nvSpPr>
          <p:cNvPr id="231" name="Shape 5"/>
          <p:cNvSpPr/>
          <p:nvPr/>
        </p:nvSpPr>
        <p:spPr>
          <a:xfrm>
            <a:off x="793790" y="4995497"/>
            <a:ext cx="113349" cy="113349"/>
          </a:xfrm>
          <a:prstGeom prst="roundRect">
            <a:avLst>
              <a:gd name="adj" fmla="val 50000"/>
            </a:avLst>
          </a:prstGeom>
          <a:solidFill>
            <a:srgbClr val="10101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6"/>
          <p:cNvSpPr txBox="1"/>
          <p:nvPr/>
        </p:nvSpPr>
        <p:spPr>
          <a:xfrm>
            <a:off x="1133950" y="5192078"/>
            <a:ext cx="2799335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2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Звуковые эффекты</a:t>
            </a:r>
          </a:p>
        </p:txBody>
      </p:sp>
      <p:sp>
        <p:nvSpPr>
          <p:cNvPr id="233" name="Text 7"/>
          <p:cNvSpPr txBox="1"/>
          <p:nvPr/>
        </p:nvSpPr>
        <p:spPr>
          <a:xfrm>
            <a:off x="1133950" y="5456149"/>
            <a:ext cx="5904550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Завершение круга, возможность расширения (столкновения, ускорение)</a:t>
            </a:r>
          </a:p>
        </p:txBody>
      </p:sp>
      <p:sp>
        <p:nvSpPr>
          <p:cNvPr id="234" name="Text 8"/>
          <p:cNvSpPr txBox="1"/>
          <p:nvPr/>
        </p:nvSpPr>
        <p:spPr>
          <a:xfrm>
            <a:off x="7599520" y="2751058"/>
            <a:ext cx="4343997" cy="411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Технические особенности</a:t>
            </a:r>
          </a:p>
        </p:txBody>
      </p:sp>
      <p:sp>
        <p:nvSpPr>
          <p:cNvPr id="235" name="Text 9"/>
          <p:cNvSpPr txBox="1"/>
          <p:nvPr/>
        </p:nvSpPr>
        <p:spPr>
          <a:xfrm>
            <a:off x="7599520" y="3403162"/>
            <a:ext cx="6244710" cy="1756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  <a:defRPr b="1"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Tiled</a:t>
            </a:r>
            <a:r>
              <a:rPr b="0"/>
              <a:t> для профессионального создания уровней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b="1"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Spatial hash</a:t>
            </a:r>
            <a:r>
              <a:rPr b="0"/>
              <a:t> для быстрых столкновений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Batch для текста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Плавные переходы камеры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Кросс-платформенность: Windows, macOS, Linux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 txBox="1"/>
          <p:nvPr/>
        </p:nvSpPr>
        <p:spPr>
          <a:xfrm>
            <a:off x="1729264" y="1269086"/>
            <a:ext cx="8101621" cy="486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900"/>
              </a:lnSpc>
              <a:defRPr b="1" sz="31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Возможности расширения и заключение</a:t>
            </a:r>
          </a:p>
        </p:txBody>
      </p:sp>
      <p:sp>
        <p:nvSpPr>
          <p:cNvPr id="238" name="Text 1"/>
          <p:cNvSpPr txBox="1"/>
          <p:nvPr/>
        </p:nvSpPr>
        <p:spPr>
          <a:xfrm>
            <a:off x="1729264" y="2555319"/>
            <a:ext cx="1242672" cy="23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5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Новые треки</a:t>
            </a:r>
          </a:p>
        </p:txBody>
      </p:sp>
      <p:sp>
        <p:nvSpPr>
          <p:cNvPr id="239" name="Text 2"/>
          <p:cNvSpPr txBox="1"/>
          <p:nvPr/>
        </p:nvSpPr>
        <p:spPr>
          <a:xfrm>
            <a:off x="1729264" y="2877622"/>
            <a:ext cx="4721771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Дополнительные уровни с уникальной геометрией и механиками</a:t>
            </a:r>
          </a:p>
        </p:txBody>
      </p:sp>
      <p:sp>
        <p:nvSpPr>
          <p:cNvPr id="240" name="Text 3"/>
          <p:cNvSpPr txBox="1"/>
          <p:nvPr/>
        </p:nvSpPr>
        <p:spPr>
          <a:xfrm>
            <a:off x="7387352" y="2555319"/>
            <a:ext cx="986502" cy="23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5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Power-ups</a:t>
            </a:r>
          </a:p>
        </p:txBody>
      </p:sp>
      <p:sp>
        <p:nvSpPr>
          <p:cNvPr id="241" name="Text 4"/>
          <p:cNvSpPr txBox="1"/>
          <p:nvPr/>
        </p:nvSpPr>
        <p:spPr>
          <a:xfrm>
            <a:off x="7387352" y="2877622"/>
            <a:ext cx="3690765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Бонусы ускорения, защиты и помех для соперника</a:t>
            </a:r>
          </a:p>
        </p:txBody>
      </p:sp>
      <p:sp>
        <p:nvSpPr>
          <p:cNvPr id="242" name="Text 5"/>
          <p:cNvSpPr txBox="1"/>
          <p:nvPr/>
        </p:nvSpPr>
        <p:spPr>
          <a:xfrm>
            <a:off x="1729264" y="3879770"/>
            <a:ext cx="2115270" cy="236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5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Сетевой мультиплеер</a:t>
            </a:r>
          </a:p>
        </p:txBody>
      </p:sp>
      <p:sp>
        <p:nvSpPr>
          <p:cNvPr id="243" name="Text 6"/>
          <p:cNvSpPr txBox="1"/>
          <p:nvPr/>
        </p:nvSpPr>
        <p:spPr>
          <a:xfrm>
            <a:off x="1729264" y="4202072"/>
            <a:ext cx="2988891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Игра по сети с игроками из разных стран</a:t>
            </a:r>
          </a:p>
        </p:txBody>
      </p:sp>
      <p:sp>
        <p:nvSpPr>
          <p:cNvPr id="244" name="Text 7"/>
          <p:cNvSpPr txBox="1"/>
          <p:nvPr/>
        </p:nvSpPr>
        <p:spPr>
          <a:xfrm>
            <a:off x="7387352" y="3879770"/>
            <a:ext cx="1404151" cy="236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5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ИИ-оппоненты</a:t>
            </a:r>
          </a:p>
        </p:txBody>
      </p:sp>
      <p:sp>
        <p:nvSpPr>
          <p:cNvPr id="245" name="Text 8"/>
          <p:cNvSpPr txBox="1"/>
          <p:nvPr/>
        </p:nvSpPr>
        <p:spPr>
          <a:xfrm>
            <a:off x="7387352" y="4202072"/>
            <a:ext cx="43050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Режим одиночной игры против искусственного интеллекта</a:t>
            </a:r>
          </a:p>
        </p:txBody>
      </p:sp>
      <p:sp>
        <p:nvSpPr>
          <p:cNvPr id="246" name="Text 9"/>
          <p:cNvSpPr txBox="1"/>
          <p:nvPr/>
        </p:nvSpPr>
        <p:spPr>
          <a:xfrm>
            <a:off x="1729264" y="5204221"/>
            <a:ext cx="1340526" cy="236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5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Скины машин</a:t>
            </a:r>
          </a:p>
        </p:txBody>
      </p:sp>
      <p:sp>
        <p:nvSpPr>
          <p:cNvPr id="247" name="Text 10"/>
          <p:cNvSpPr txBox="1"/>
          <p:nvPr/>
        </p:nvSpPr>
        <p:spPr>
          <a:xfrm>
            <a:off x="1729264" y="5526523"/>
            <a:ext cx="443207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Различные внешние виды автомобилей для персонализации</a:t>
            </a:r>
          </a:p>
        </p:txBody>
      </p:sp>
      <p:sp>
        <p:nvSpPr>
          <p:cNvPr id="248" name="Text 11"/>
          <p:cNvSpPr txBox="1"/>
          <p:nvPr/>
        </p:nvSpPr>
        <p:spPr>
          <a:xfrm>
            <a:off x="7387352" y="5204221"/>
            <a:ext cx="1201093" cy="236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500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Достижения</a:t>
            </a:r>
          </a:p>
        </p:txBody>
      </p:sp>
      <p:sp>
        <p:nvSpPr>
          <p:cNvPr id="249" name="Text 12"/>
          <p:cNvSpPr txBox="1"/>
          <p:nvPr/>
        </p:nvSpPr>
        <p:spPr>
          <a:xfrm>
            <a:off x="7387352" y="5526523"/>
            <a:ext cx="35549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Система наград и медалей за выполнение задач</a:t>
            </a:r>
          </a:p>
        </p:txBody>
      </p:sp>
      <p:sp>
        <p:nvSpPr>
          <p:cNvPr id="250" name="Shape 13"/>
          <p:cNvSpPr/>
          <p:nvPr/>
        </p:nvSpPr>
        <p:spPr>
          <a:xfrm>
            <a:off x="1729263" y="5959312"/>
            <a:ext cx="11171875" cy="27743"/>
          </a:xfrm>
          <a:prstGeom prst="rect">
            <a:avLst/>
          </a:prstGeom>
          <a:solidFill>
            <a:srgbClr val="39393C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14"/>
          <p:cNvSpPr txBox="1"/>
          <p:nvPr/>
        </p:nvSpPr>
        <p:spPr>
          <a:xfrm>
            <a:off x="1729264" y="6160294"/>
            <a:ext cx="4705747" cy="38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b="1" sz="250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/>
            <a:r>
              <a:t>Скачайте и попробуйте сами!</a:t>
            </a:r>
          </a:p>
        </p:txBody>
      </p:sp>
      <p:sp>
        <p:nvSpPr>
          <p:cNvPr id="252" name="Text 15"/>
          <p:cNvSpPr txBox="1"/>
          <p:nvPr/>
        </p:nvSpPr>
        <p:spPr>
          <a:xfrm>
            <a:off x="1729263" y="6738460"/>
            <a:ext cx="59503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Исходный код доступен на GitHub. Готовый продукт для обучения и развлечения!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